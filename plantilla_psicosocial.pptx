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bubble3D val="0"/>
            <c:spPr>
              <a:solidFill>
                <a:srgbClr val="1A4A9C"/>
              </a:solidFill>
            </c:spPr>
            <c:extLst>
              <c:ext xmlns:c16="http://schemas.microsoft.com/office/drawing/2014/chart" uri="{C3380CC4-5D6E-409C-BE32-E72D297353CC}">
                <c16:uniqueId val="{00000001-7435-4CD1-AC27-D1CFB1B8941F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3-7435-4CD1-AC27-D1CFB1B894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Masculino</c:v>
                </c:pt>
                <c:pt idx="1">
                  <c:v>Femenino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</c:v>
                </c:pt>
                <c:pt idx="1">
                  <c:v>0.28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35-4CD1-AC27-D1CFB1B8941F}"/>
            </c:ext>
          </c:extLst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r"/>
      <c:layout>
        <c:manualLayout>
          <c:xMode val="edge"/>
          <c:yMode val="edge"/>
          <c:x val="0.72494259263168526"/>
          <c:y val="0.42205154683533413"/>
          <c:w val="0.16632937638827319"/>
          <c:h val="0.13738974226582332"/>
        </c:manualLayout>
      </c:layout>
      <c:overlay val="0"/>
      <c:txPr>
        <a:bodyPr/>
        <a:lstStyle/>
        <a:p>
          <a:pPr>
            <a:defRPr sz="2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bubble3D val="0"/>
            <c:spPr>
              <a:solidFill>
                <a:srgbClr val="1A4A9C"/>
              </a:solidFill>
            </c:spPr>
            <c:extLst>
              <c:ext xmlns:c16="http://schemas.microsoft.com/office/drawing/2014/chart" uri="{C3380CC4-5D6E-409C-BE32-E72D297353CC}">
                <c16:uniqueId val="{00000001-6BA0-484B-A9BB-DBD3C0588B00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3-6BA0-484B-A9BB-DBD3C0588B00}"/>
              </c:ext>
            </c:extLst>
          </c:dPt>
          <c:dPt>
            <c:idx val="2"/>
            <c:bubble3D val="0"/>
            <c:spPr>
              <a:solidFill>
                <a:srgbClr val="1E8449"/>
              </a:solidFill>
            </c:spPr>
            <c:extLst>
              <c:ext xmlns:c16="http://schemas.microsoft.com/office/drawing/2014/chart" uri="{C3380CC4-5D6E-409C-BE32-E72D297353CC}">
                <c16:uniqueId val="{00000005-6BA0-484B-A9BB-DBD3C0588B00}"/>
              </c:ext>
            </c:extLst>
          </c:dPt>
          <c:dPt>
            <c:idx val="3"/>
            <c:bubble3D val="0"/>
            <c:spPr>
              <a:solidFill>
                <a:srgbClr val="B7770D"/>
              </a:solidFill>
            </c:spPr>
            <c:extLst>
              <c:ext xmlns:c16="http://schemas.microsoft.com/office/drawing/2014/chart" uri="{C3380CC4-5D6E-409C-BE32-E72D297353CC}">
                <c16:uniqueId val="{00000007-6BA0-484B-A9BB-DBD3C0588B00}"/>
              </c:ext>
            </c:extLst>
          </c:dPt>
          <c:dPt>
            <c:idx val="4"/>
            <c:bubble3D val="0"/>
            <c:spPr>
              <a:solidFill>
                <a:srgbClr val="6C3483"/>
              </a:solidFill>
            </c:spPr>
            <c:extLst>
              <c:ext xmlns:c16="http://schemas.microsoft.com/office/drawing/2014/chart" uri="{C3380CC4-5D6E-409C-BE32-E72D297353CC}">
                <c16:uniqueId val="{00000009-6BA0-484B-A9BB-DBD3C0588B00}"/>
              </c:ext>
            </c:extLst>
          </c:dPt>
          <c:dLbls>
            <c:dLbl>
              <c:idx val="4"/>
              <c:layout>
                <c:manualLayout>
                  <c:x val="4.9382716049382686E-2"/>
                  <c:y val="7.4614488354832424E-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64814814814814"/>
                      <c:h val="7.07609268035808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6BA0-484B-A9BB-DBD3C0588B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18-24 años</c:v>
                </c:pt>
                <c:pt idx="1">
                  <c:v>25-34 años</c:v>
                </c:pt>
                <c:pt idx="2">
                  <c:v>35-44 años</c:v>
                </c:pt>
                <c:pt idx="3">
                  <c:v>45-54 años</c:v>
                </c:pt>
                <c:pt idx="4">
                  <c:v>55 años en adelante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0.4</c:v>
                </c:pt>
                <c:pt idx="2">
                  <c:v>0.32</c:v>
                </c:pt>
                <c:pt idx="3">
                  <c:v>0.12</c:v>
                </c:pt>
                <c:pt idx="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BA0-484B-A9BB-DBD3C0588B00}"/>
            </c:ext>
          </c:extLst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r"/>
      <c:layout>
        <c:manualLayout>
          <c:xMode val="edge"/>
          <c:yMode val="edge"/>
          <c:x val="0.69217155147273257"/>
          <c:y val="0.21143812394698688"/>
          <c:w val="0.26770499173714396"/>
          <c:h val="0.30449355856584276"/>
        </c:manualLayout>
      </c:layout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E8449"/>
              </a:solidFill>
            </c:spPr>
            <c:extLst>
              <c:ext xmlns:c16="http://schemas.microsoft.com/office/drawing/2014/chart" uri="{C3380CC4-5D6E-409C-BE32-E72D297353CC}">
                <c16:uniqueId val="{00000001-1EAF-49E3-8C99-424A74FA58B5}"/>
              </c:ext>
            </c:extLst>
          </c:dPt>
          <c:dPt>
            <c:idx val="1"/>
            <c:invertIfNegative val="1"/>
            <c:bubble3D val="0"/>
            <c:spPr>
              <a:solidFill>
                <a:srgbClr val="B7770D"/>
              </a:solidFill>
            </c:spPr>
            <c:extLst>
              <c:ext xmlns:c16="http://schemas.microsoft.com/office/drawing/2014/chart" uri="{C3380CC4-5D6E-409C-BE32-E72D297353CC}">
                <c16:uniqueId val="{00000003-1EAF-49E3-8C99-424A74FA58B5}"/>
              </c:ext>
            </c:extLst>
          </c:dPt>
          <c:dPt>
            <c:idx val="2"/>
            <c:invertIfNegative val="1"/>
            <c:bubble3D val="0"/>
            <c:spPr>
              <a:solidFill>
                <a:srgbClr val="1E8449"/>
              </a:solidFill>
            </c:spPr>
            <c:extLst>
              <c:ext xmlns:c16="http://schemas.microsoft.com/office/drawing/2014/chart" uri="{C3380CC4-5D6E-409C-BE32-E72D297353CC}">
                <c16:uniqueId val="{00000005-1EAF-49E3-8C99-424A74FA58B5}"/>
              </c:ext>
            </c:extLst>
          </c:dPt>
          <c:dPt>
            <c:idx val="3"/>
            <c:invertIfNegative val="1"/>
            <c:bubble3D val="0"/>
            <c:spPr>
              <a:solidFill>
                <a:srgbClr val="B7770D"/>
              </a:solidFill>
            </c:spPr>
            <c:extLst>
              <c:ext xmlns:c16="http://schemas.microsoft.com/office/drawing/2014/chart" uri="{C3380CC4-5D6E-409C-BE32-E72D297353CC}">
                <c16:uniqueId val="{00000007-1EAF-49E3-8C99-424A74FA58B5}"/>
              </c:ext>
            </c:extLst>
          </c:dPt>
          <c:dPt>
            <c:idx val="4"/>
            <c:invertIfNegative val="1"/>
            <c:bubble3D val="0"/>
            <c:spPr>
              <a:solidFill>
                <a:srgbClr val="CC1111"/>
              </a:solidFill>
            </c:spPr>
            <c:extLst>
              <c:ext xmlns:c16="http://schemas.microsoft.com/office/drawing/2014/chart" uri="{C3380CC4-5D6E-409C-BE32-E72D297353CC}">
                <c16:uniqueId val="{00000009-1EAF-49E3-8C99-424A74FA58B5}"/>
              </c:ext>
            </c:extLst>
          </c:dPt>
          <c:dPt>
            <c:idx val="5"/>
            <c:invertIfNegative val="1"/>
            <c:bubble3D val="0"/>
            <c:spPr>
              <a:solidFill>
                <a:srgbClr val="1E8449"/>
              </a:solidFill>
            </c:spPr>
            <c:extLst>
              <c:ext xmlns:c16="http://schemas.microsoft.com/office/drawing/2014/chart" uri="{C3380CC4-5D6E-409C-BE32-E72D297353CC}">
                <c16:uniqueId val="{0000000B-1EAF-49E3-8C99-424A74FA58B5}"/>
              </c:ext>
            </c:extLst>
          </c:dPt>
          <c:dPt>
            <c:idx val="6"/>
            <c:invertIfNegative val="1"/>
            <c:bubble3D val="0"/>
            <c:spPr>
              <a:solidFill>
                <a:srgbClr val="B7770D"/>
              </a:solidFill>
            </c:spPr>
            <c:extLst>
              <c:ext xmlns:c16="http://schemas.microsoft.com/office/drawing/2014/chart" uri="{C3380CC4-5D6E-409C-BE32-E72D297353CC}">
                <c16:uniqueId val="{0000000D-1EAF-49E3-8C99-424A74FA58B5}"/>
              </c:ext>
            </c:extLst>
          </c:dPt>
          <c:dPt>
            <c:idx val="7"/>
            <c:invertIfNegative val="1"/>
            <c:bubble3D val="0"/>
            <c:spPr>
              <a:solidFill>
                <a:srgbClr val="1E8449"/>
              </a:solidFill>
            </c:spPr>
            <c:extLst>
              <c:ext xmlns:c16="http://schemas.microsoft.com/office/drawing/2014/chart" uri="{C3380CC4-5D6E-409C-BE32-E72D297353CC}">
                <c16:uniqueId val="{0000000F-1EAF-49E3-8C99-424A74FA58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Carga y Ritmo de Trabajo</c:v>
                </c:pt>
                <c:pt idx="1">
                  <c:v>Desarrollo de Competencias</c:v>
                </c:pt>
                <c:pt idx="2">
                  <c:v>Liderazgo</c:v>
                </c:pt>
                <c:pt idx="3">
                  <c:v>Margen de Acción y Control</c:v>
                </c:pt>
                <c:pt idx="4">
                  <c:v>Organización del Trabajo</c:v>
                </c:pt>
                <c:pt idx="5">
                  <c:v>Recuperación</c:v>
                </c:pt>
                <c:pt idx="6">
                  <c:v>Soporte y Apoyo</c:v>
                </c:pt>
                <c:pt idx="7">
                  <c:v>Otros Puntos Importantes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11</c:v>
                </c:pt>
                <c:pt idx="2">
                  <c:v>18</c:v>
                </c:pt>
                <c:pt idx="3">
                  <c:v>8</c:v>
                </c:pt>
                <c:pt idx="4">
                  <c:v>7</c:v>
                </c:pt>
                <c:pt idx="5">
                  <c:v>16</c:v>
                </c:pt>
                <c:pt idx="6">
                  <c:v>12</c:v>
                </c:pt>
                <c:pt idx="7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EAF-49E3-8C99-424A74FA58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2417448"/>
            <a:ext cx="10360152" cy="64008"/>
          </a:xfrm>
          <a:prstGeom prst="rect">
            <a:avLst/>
          </a:prstGeom>
          <a:solidFill>
            <a:srgbClr val="CC1111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72838" y="3971944"/>
            <a:ext cx="54158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/>
              <a:t>INFORME DE EVALUACIÓN DE RIESGOS PSICOSOCIALES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2675" y="4474864"/>
            <a:ext cx="33361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dirty="0">
                <a:solidFill>
                  <a:srgbClr val="002060"/>
                </a:solidFill>
              </a:rPr>
              <a:t>TEST: Ministerio de Trabajo Ecuador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7610" y="4977784"/>
            <a:ext cx="40463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dirty="0"/>
              <a:t>RUC: </a:t>
            </a:r>
            <a:r>
              <a:rPr lang="en-US" sz="1600" b="0" dirty="0"/>
              <a:t>0791841237001</a:t>
            </a:r>
            <a:r>
              <a:rPr sz="1600" b="0" dirty="0"/>
              <a:t>   |   </a:t>
            </a:r>
            <a:r>
              <a:rPr sz="1600" b="0" dirty="0" err="1"/>
              <a:t>Actividad</a:t>
            </a:r>
            <a:r>
              <a:rPr sz="1600" b="0" dirty="0"/>
              <a:t>: </a:t>
            </a:r>
            <a:r>
              <a:rPr lang="en-US" sz="1600" b="0" dirty="0"/>
              <a:t>G4630.31</a:t>
            </a:r>
            <a:endParaRPr sz="1600" b="0" dirty="0"/>
          </a:p>
        </p:txBody>
      </p:sp>
      <p:sp>
        <p:nvSpPr>
          <p:cNvPr id="9" name="TextBox 8"/>
          <p:cNvSpPr txBox="1"/>
          <p:nvPr/>
        </p:nvSpPr>
        <p:spPr>
          <a:xfrm>
            <a:off x="3946105" y="5480704"/>
            <a:ext cx="42693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Universo: 25 </a:t>
            </a:r>
            <a:r>
              <a:rPr sz="1600" b="1" dirty="0" err="1"/>
              <a:t>trabajadores</a:t>
            </a:r>
            <a:r>
              <a:rPr sz="1600" b="1" dirty="0"/>
              <a:t>   ·   </a:t>
            </a:r>
            <a:r>
              <a:rPr sz="1600" b="1" dirty="0" err="1"/>
              <a:t>Fecha</a:t>
            </a:r>
            <a:r>
              <a:rPr sz="1600" b="1" dirty="0"/>
              <a:t>: 2026-03-18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2A9BA90-6098-2258-DB0E-FB50A1BCB64B}"/>
              </a:ext>
            </a:extLst>
          </p:cNvPr>
          <p:cNvSpPr txBox="1"/>
          <p:nvPr/>
        </p:nvSpPr>
        <p:spPr>
          <a:xfrm>
            <a:off x="2389940" y="2888148"/>
            <a:ext cx="7381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02060"/>
                </a:solidFill>
              </a:rPr>
              <a:t>DISPROLOP S.A.S.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-64008"/>
            <a:ext cx="548640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Género de los Trabajadores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02060"/>
                </a:solidFill>
              </a:rPr>
              <a:t>Total </a:t>
            </a:r>
            <a:r>
              <a:rPr sz="2800" b="1" dirty="0" err="1">
                <a:solidFill>
                  <a:srgbClr val="002060"/>
                </a:solidFill>
              </a:rPr>
              <a:t>trabajadores</a:t>
            </a:r>
            <a:r>
              <a:rPr sz="2800" b="1" dirty="0">
                <a:solidFill>
                  <a:srgbClr val="002060"/>
                </a:solidFill>
              </a:rPr>
              <a:t>: 25</a:t>
            </a:r>
          </a:p>
          <a:p>
            <a:endParaRPr sz="2800" b="1" dirty="0">
              <a:solidFill>
                <a:srgbClr val="002060"/>
              </a:solidFill>
            </a:endParaRPr>
          </a:p>
          <a:p>
            <a:r>
              <a:rPr sz="2800" b="1" dirty="0" err="1">
                <a:solidFill>
                  <a:srgbClr val="002060"/>
                </a:solidFill>
              </a:rPr>
              <a:t>Masculino</a:t>
            </a:r>
            <a:r>
              <a:rPr sz="2800" b="1" dirty="0">
                <a:solidFill>
                  <a:srgbClr val="002060"/>
                </a:solidFill>
              </a:rPr>
              <a:t>: 18</a:t>
            </a:r>
          </a:p>
          <a:p>
            <a:r>
              <a:rPr sz="2800" b="1" dirty="0" err="1">
                <a:solidFill>
                  <a:srgbClr val="002060"/>
                </a:solidFill>
              </a:rPr>
              <a:t>Femenino</a:t>
            </a:r>
            <a:r>
              <a:rPr sz="2800" b="1" dirty="0">
                <a:solidFill>
                  <a:srgbClr val="002060"/>
                </a:solidFill>
              </a:rPr>
              <a:t>: 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650962"/>
              </p:ext>
            </p:extLst>
          </p:nvPr>
        </p:nvGraphicFramePr>
        <p:xfrm>
          <a:off x="3543300" y="457200"/>
          <a:ext cx="852678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9" name="Picture 1" descr="image.jpg">
            <a:extLst>
              <a:ext uri="{FF2B5EF4-FFF2-40B4-BE49-F238E27FC236}">
                <a16:creationId xmlns:a16="http://schemas.microsoft.com/office/drawing/2014/main" id="{3813B584-32B8-356B-03C5-15CED600C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8" r="21053"/>
          <a:stretch>
            <a:fillRect/>
          </a:stretch>
        </p:blipFill>
        <p:spPr>
          <a:xfrm>
            <a:off x="10072688" y="18172"/>
            <a:ext cx="1631632" cy="1112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Distribución por Grupos de 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2060"/>
                </a:solidFill>
              </a:rPr>
              <a:t>Total trabajadores: 25</a:t>
            </a:r>
          </a:p>
          <a:p>
            <a:endParaRPr sz="2200" b="1">
              <a:solidFill>
                <a:srgbClr val="002060"/>
              </a:solidFill>
            </a:endParaRPr>
          </a:p>
          <a:p>
            <a:r>
              <a:rPr sz="2200" b="1">
                <a:solidFill>
                  <a:srgbClr val="002060"/>
                </a:solidFill>
              </a:rPr>
              <a:t>18-24 años: 3</a:t>
            </a:r>
          </a:p>
          <a:p>
            <a:r>
              <a:rPr sz="2200" b="1">
                <a:solidFill>
                  <a:srgbClr val="002060"/>
                </a:solidFill>
              </a:rPr>
              <a:t>25-34 años: 10</a:t>
            </a:r>
          </a:p>
          <a:p>
            <a:r>
              <a:rPr sz="2200" b="1">
                <a:solidFill>
                  <a:srgbClr val="002060"/>
                </a:solidFill>
              </a:rPr>
              <a:t>35-44 años: 8</a:t>
            </a:r>
          </a:p>
          <a:p>
            <a:r>
              <a:rPr sz="2200" b="1">
                <a:solidFill>
                  <a:srgbClr val="002060"/>
                </a:solidFill>
              </a:rPr>
              <a:t>45-54 años: 3</a:t>
            </a:r>
          </a:p>
          <a:p>
            <a:r>
              <a:rPr sz="2200" b="1">
                <a:solidFill>
                  <a:srgbClr val="002060"/>
                </a:solidFill>
              </a:rPr>
              <a:t>55 años en adelante: 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79159"/>
              </p:ext>
            </p:extLst>
          </p:nvPr>
        </p:nvGraphicFramePr>
        <p:xfrm>
          <a:off x="3400425" y="740664"/>
          <a:ext cx="8229600" cy="5788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8" name="Picture 1" descr="image.jpg">
            <a:extLst>
              <a:ext uri="{FF2B5EF4-FFF2-40B4-BE49-F238E27FC236}">
                <a16:creationId xmlns:a16="http://schemas.microsoft.com/office/drawing/2014/main" id="{81CFC0D1-9D26-FE51-5B80-8CFF5A04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8" r="21053"/>
          <a:stretch>
            <a:fillRect/>
          </a:stretch>
        </p:blipFill>
        <p:spPr>
          <a:xfrm>
            <a:off x="9910916" y="18172"/>
            <a:ext cx="1793404" cy="1223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Resultado Global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029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2060"/>
                </a:solidFill>
              </a:rPr>
              <a:t>Puntaje Total: 151</a:t>
            </a:r>
          </a:p>
          <a:p>
            <a:endParaRPr sz="2400" b="1">
              <a:solidFill>
                <a:srgbClr val="002060"/>
              </a:solidFill>
            </a:endParaRPr>
          </a:p>
          <a:p>
            <a:r>
              <a:rPr sz="2400" b="1">
                <a:solidFill>
                  <a:srgbClr val="002060"/>
                </a:solidFill>
              </a:rPr>
              <a:t>Universo: 25 trabajadores</a:t>
            </a:r>
          </a:p>
          <a:p>
            <a:endParaRPr sz="2400" b="1">
              <a:solidFill>
                <a:srgbClr val="002060"/>
              </a:solidFill>
            </a:endParaRPr>
          </a:p>
          <a:p>
            <a:r>
              <a:rPr sz="2400" b="1">
                <a:solidFill>
                  <a:srgbClr val="002060"/>
                </a:solidFill>
              </a:rPr>
              <a:t>Rangos:</a:t>
            </a:r>
          </a:p>
          <a:p>
            <a:r>
              <a:rPr sz="2400" b="1">
                <a:solidFill>
                  <a:srgbClr val="002060"/>
                </a:solidFill>
              </a:rPr>
              <a:t>Bajo: 175 - 232 pts</a:t>
            </a:r>
          </a:p>
          <a:p>
            <a:r>
              <a:rPr sz="2400" b="1">
                <a:solidFill>
                  <a:srgbClr val="002060"/>
                </a:solidFill>
              </a:rPr>
              <a:t>Medio: 117 - 174 pts</a:t>
            </a:r>
          </a:p>
          <a:p>
            <a:r>
              <a:rPr sz="2400" b="1">
                <a:solidFill>
                  <a:srgbClr val="002060"/>
                </a:solidFill>
              </a:rPr>
              <a:t>Alto: 58 - 116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DA8F0AA-A936-E17D-B495-AA75F748D4FD}"/>
              </a:ext>
            </a:extLst>
          </p:cNvPr>
          <p:cNvSpPr/>
          <p:nvPr/>
        </p:nvSpPr>
        <p:spPr>
          <a:xfrm>
            <a:off x="1504335" y="2083505"/>
            <a:ext cx="3834581" cy="3562915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6000" dirty="0">
                <a:solidFill>
                  <a:schemeClr val="tx1"/>
                </a:solidFill>
              </a:rPr>
              <a:t>RIESGO
MEDIO</a:t>
            </a:r>
            <a:endParaRPr lang="en-US" sz="6000" dirty="0">
              <a:solidFill>
                <a:schemeClr val="tx1"/>
              </a:solidFill>
            </a:endParaRPr>
          </a:p>
        </p:txBody>
      </p:sp>
      <p:pic>
        <p:nvPicPr>
          <p:cNvPr id="10" name="Picture 1" descr="image.jpg">
            <a:extLst>
              <a:ext uri="{FF2B5EF4-FFF2-40B4-BE49-F238E27FC236}">
                <a16:creationId xmlns:a16="http://schemas.microsoft.com/office/drawing/2014/main" id="{EB0B7238-6BA7-35AF-9D7B-0DDE81EE1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8" r="21053"/>
          <a:stretch>
            <a:fillRect/>
          </a:stretch>
        </p:blipFill>
        <p:spPr>
          <a:xfrm>
            <a:off x="10242709" y="197040"/>
            <a:ext cx="1460182" cy="995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Resultados por Dimensión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48696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8612" y="12344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800" b="1" dirty="0">
                <a:solidFill>
                  <a:srgbClr val="1E8449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Carga y Ritmo de Trabajo: 14 pts</a:t>
            </a:r>
            <a:endParaRPr lang="es-EC"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C000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Desarrollo de Competencias: 11 pts</a:t>
            </a:r>
            <a:endParaRPr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1E8449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Liderazgo: 18 pts</a:t>
            </a:r>
            <a:endParaRPr lang="es-EC"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C000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Margen de Acción y Control: 8 pts</a:t>
            </a:r>
            <a:endParaRPr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CC1111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Organización del Trabajo: 7 pts</a:t>
            </a:r>
            <a:endParaRPr lang="es-EC"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1E8449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Recuperación: 16 pts</a:t>
            </a:r>
            <a:endParaRPr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FFC000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Soporte y Apoyo: 12 pts</a:t>
            </a:r>
            <a:endParaRPr lang="es-EC" sz="2000" b="1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</a:pPr>
            <a:r>
              <a:rPr sz="2800" b="1" dirty="0">
                <a:solidFill>
                  <a:srgbClr val="1E8449"/>
                </a:solidFill>
              </a:rPr>
              <a:t>●  </a:t>
            </a:r>
            <a:r>
              <a:rPr sz="2800" b="1" dirty="0">
                <a:solidFill>
                  <a:srgbClr val="002060"/>
                </a:solidFill>
              </a:rPr>
              <a:t>Otros Puntos Importantes: 65 pts</a:t>
            </a:r>
            <a:endParaRPr sz="20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7" name="Picture 1" descr="image.jpg">
            <a:extLst>
              <a:ext uri="{FF2B5EF4-FFF2-40B4-BE49-F238E27FC236}">
                <a16:creationId xmlns:a16="http://schemas.microsoft.com/office/drawing/2014/main" id="{29C262B2-BBA0-B367-4FF2-09C5B8F54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8" r="21053"/>
          <a:stretch>
            <a:fillRect/>
          </a:stretch>
        </p:blipFill>
        <p:spPr>
          <a:xfrm>
            <a:off x="10344150" y="32336"/>
            <a:ext cx="1360169" cy="927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Análisis por Dimensión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33862"/>
              </p:ext>
            </p:extLst>
          </p:nvPr>
        </p:nvGraphicFramePr>
        <p:xfrm>
          <a:off x="274320" y="1463040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7" name="Picture 1" descr="image.jpg">
            <a:extLst>
              <a:ext uri="{FF2B5EF4-FFF2-40B4-BE49-F238E27FC236}">
                <a16:creationId xmlns:a16="http://schemas.microsoft.com/office/drawing/2014/main" id="{AA2CDEF2-C1D7-4D13-77ED-7D0E66F490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8" r="21053"/>
          <a:stretch>
            <a:fillRect/>
          </a:stretch>
        </p:blipFill>
        <p:spPr>
          <a:xfrm>
            <a:off x="10129838" y="18173"/>
            <a:ext cx="1574482" cy="10737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Dimensiones que Requieren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3000" b="1" dirty="0">
                <a:solidFill>
                  <a:srgbClr val="FFC000"/>
                </a:solidFill>
              </a:rPr>
              <a:t>●  </a:t>
            </a:r>
            <a:r>
              <a:rPr sz="3000" b="1" dirty="0">
                <a:solidFill>
                  <a:srgbClr val="002060"/>
                </a:solidFill>
              </a:rPr>
              <a:t>Desarrollo de Competencias: 11 pts</a:t>
            </a:r>
            <a:endParaRPr lang="es-EC" sz="3200" b="1" dirty="0">
              <a:solidFill>
                <a:srgbClr val="002060"/>
              </a:solidFill>
            </a:endParaRPr>
          </a:p>
          <a:p>
            <a:pPr>
              <a:spcBef>
                <a:spcPts val="800"/>
              </a:spcBef>
            </a:pPr>
            <a:r>
              <a:rPr sz="3000" b="1" dirty="0">
                <a:solidFill>
                  <a:srgbClr val="FFC000"/>
                </a:solidFill>
              </a:rPr>
              <a:t>●  </a:t>
            </a:r>
            <a:r>
              <a:rPr sz="3000" b="1" dirty="0">
                <a:solidFill>
                  <a:srgbClr val="002060"/>
                </a:solidFill>
              </a:rPr>
              <a:t>Margen de Acción y Control: 8 pts</a:t>
            </a:r>
            <a:endParaRPr sz="3200" b="1" dirty="0">
              <a:solidFill>
                <a:srgbClr val="002060"/>
              </a:solidFill>
            </a:endParaRPr>
          </a:p>
          <a:p>
            <a:pPr>
              <a:spcBef>
                <a:spcPts val="800"/>
              </a:spcBef>
            </a:pPr>
            <a:r>
              <a:rPr sz="3000" b="1" dirty="0">
                <a:solidFill>
                  <a:srgbClr val="CC1111"/>
                </a:solidFill>
              </a:rPr>
              <a:t>●  </a:t>
            </a:r>
            <a:r>
              <a:rPr sz="3000" b="1" dirty="0">
                <a:solidFill>
                  <a:srgbClr val="002060"/>
                </a:solidFill>
              </a:rPr>
              <a:t>Organización del Trabajo: 7 pts</a:t>
            </a:r>
            <a:endParaRPr lang="es-EC" sz="3200" b="1" dirty="0">
              <a:solidFill>
                <a:srgbClr val="002060"/>
              </a:solidFill>
            </a:endParaRPr>
          </a:p>
          <a:p>
            <a:pPr>
              <a:spcBef>
                <a:spcPts val="800"/>
              </a:spcBef>
            </a:pPr>
            <a:r>
              <a:rPr sz="3000" b="1" dirty="0">
                <a:solidFill>
                  <a:srgbClr val="FFC000"/>
                </a:solidFill>
              </a:rPr>
              <a:t>●  </a:t>
            </a:r>
            <a:r>
              <a:rPr sz="3000" b="1" dirty="0">
                <a:solidFill>
                  <a:srgbClr val="002060"/>
                </a:solidFill>
              </a:rPr>
              <a:t>Soporte y Apoyo: 12 pts</a:t>
            </a:r>
            <a:endParaRPr sz="32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7" name="Picture 1" descr="image.jpg">
            <a:extLst>
              <a:ext uri="{FF2B5EF4-FFF2-40B4-BE49-F238E27FC236}">
                <a16:creationId xmlns:a16="http://schemas.microsoft.com/office/drawing/2014/main" id="{1AC5A4C7-6386-1823-0910-081A5346B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8" r="21053"/>
          <a:stretch>
            <a:fillRect/>
          </a:stretch>
        </p:blipFill>
        <p:spPr>
          <a:xfrm>
            <a:off x="10044112" y="18173"/>
            <a:ext cx="1660207" cy="1132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060"/>
                </a:solidFill>
              </a:rPr>
              <a:t>Recomendaciones y Plan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5486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Atención inmediata en: Organización del Trabajo.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Promover espacios de comunicación y retroalimentación entre líderes y equipos.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Implementar pausas activas y programas de bienestar laboral.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Fortalecer el plan de capacitación y desarrollo de competencias.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Establecer mecanismos de seguimiento periódico de factores psicosociales.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Socializar los resultados con todos los trabajadores y áreas.</a:t>
            </a:r>
            <a:endParaRPr lang="es-EC" sz="2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  <a:spcBef>
                <a:spcPts val="1600"/>
              </a:spcBef>
            </a:pPr>
            <a:r>
              <a:rPr sz="2600" b="1" dirty="0">
                <a:solidFill>
                  <a:srgbClr val="002060"/>
                </a:solidFill>
              </a:rPr>
              <a:t>Implementar el Programa de Riesgos Psicosociales según normativa vigente.</a:t>
            </a:r>
            <a:endParaRPr lang="es-EC" sz="26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7" name="Picture 1" descr="image.jpg">
            <a:extLst>
              <a:ext uri="{FF2B5EF4-FFF2-40B4-BE49-F238E27FC236}">
                <a16:creationId xmlns:a16="http://schemas.microsoft.com/office/drawing/2014/main" id="{816E50B2-3BC8-FAD4-2DC9-23BEAC8065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8" r="21053"/>
          <a:stretch>
            <a:fillRect/>
          </a:stretch>
        </p:blipFill>
        <p:spPr>
          <a:xfrm>
            <a:off x="10072688" y="18172"/>
            <a:ext cx="1631632" cy="1112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7882" y="3753463"/>
            <a:ext cx="9445752" cy="64008"/>
          </a:xfrm>
          <a:prstGeom prst="rect">
            <a:avLst/>
          </a:prstGeom>
          <a:solidFill>
            <a:srgbClr val="CC1111"/>
          </a:solidFill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0393" y="5694033"/>
            <a:ext cx="31280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dirty="0"/>
              <a:t>Informe </a:t>
            </a:r>
            <a:r>
              <a:rPr b="0" dirty="0" err="1"/>
              <a:t>elaborado</a:t>
            </a:r>
            <a:r>
              <a:rPr b="0" dirty="0"/>
              <a:t>: 2026-03-18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3654" y="6259215"/>
            <a:ext cx="12188824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CENTRO DE VIGILANCIA DE LA SALUD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43" y="176909"/>
            <a:ext cx="4273937" cy="34228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221</Words>
  <Application>Microsoft Office PowerPoint</Application>
  <PresentationFormat>Personalizado</PresentationFormat>
  <Paragraphs>78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UCHO ORDOÑEZ JUAN ALCIDES</cp:lastModifiedBy>
  <cp:revision>8</cp:revision>
  <dcterms:created xsi:type="dcterms:W3CDTF">2013-01-27T09:14:16Z</dcterms:created>
  <dcterms:modified xsi:type="dcterms:W3CDTF">2026-03-19T12:00:52Z</dcterms:modified>
  <cp:category/>
</cp:coreProperties>
</file>